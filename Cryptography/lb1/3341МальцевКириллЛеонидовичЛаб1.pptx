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43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9" d="100"/>
          <a:sy n="159" d="100"/>
        </p:scale>
        <p:origin x="1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slide" Target="slides/slide2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slide" Target="slides/slide31.xml"/><Relationship Id="rId47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41" Type="http://schemas.openxmlformats.org/officeDocument/2006/relationships/slide" Target="slides/slide3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Для перемещения страницы щёлкните мышью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Для правки формата примечаний щёлкните мышью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&lt;верхний колонтитул&gt;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81FF73C-13C9-4D31-88C7-A25F05A311EE}" type="slidenum"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319156B-2AE7-4BCC-9F64-D879DC3CAA28}" type="slidenum">
              <a:rPr lang="ru-RU" sz="1200" b="0" strike="noStrike" spc="-1">
                <a:solidFill>
                  <a:srgbClr val="000000"/>
                </a:solidFill>
                <a:latin typeface="Times New Roman"/>
              </a:rPr>
              <a:t>10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8843DB9-A56E-4593-BAD4-E091F6F813F7}" type="slidenum">
              <a:rPr lang="ru-RU" sz="1200" b="0" strike="noStrike" spc="-1">
                <a:solidFill>
                  <a:srgbClr val="000000"/>
                </a:solidFill>
                <a:latin typeface="Times New Roman"/>
              </a:rPr>
              <a:t>11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5837E60-7AC3-42C1-91C3-C25009BB934E}" type="slidenum">
              <a:rPr lang="ru-RU" sz="1200" b="0" strike="noStrike" spc="-1">
                <a:solidFill>
                  <a:srgbClr val="000000"/>
                </a:solidFill>
                <a:latin typeface="Times New Roman"/>
              </a:rPr>
              <a:t>15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CC2B47C-6C42-413C-B3DF-C324B92DFA56}" type="slidenum">
              <a:rPr lang="ru-RU" sz="1200" b="0" strike="noStrike" spc="-1">
                <a:solidFill>
                  <a:srgbClr val="000000"/>
                </a:solidFill>
                <a:latin typeface="Times New Roman"/>
              </a:rPr>
              <a:t>16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CF29E52-6F88-448F-A997-B4512D5DE86D}" type="slidenum">
              <a:rPr lang="ru-RU" sz="1200" b="0" strike="noStrike" spc="-1">
                <a:solidFill>
                  <a:srgbClr val="000000"/>
                </a:solidFill>
                <a:latin typeface="Times New Roman"/>
              </a:rPr>
              <a:t>20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5EC17DB-2C8E-45D8-B2F3-13E0F41E7943}" type="slidenum">
              <a:rPr lang="ru-RU" sz="1200" b="0" strike="noStrike" spc="-1">
                <a:solidFill>
                  <a:srgbClr val="000000"/>
                </a:solidFill>
                <a:latin typeface="Times New Roman"/>
              </a:rPr>
              <a:t>21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F6901A1-1FB7-4A11-AF8B-80E60F631BF5}" type="slidenum">
              <a:rPr lang="ru-RU" sz="1200" b="0" strike="noStrike" spc="-1">
                <a:solidFill>
                  <a:srgbClr val="000000"/>
                </a:solidFill>
                <a:latin typeface="Times New Roman"/>
              </a:rPr>
              <a:t>25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D8294DC-A325-4157-89EF-CE577B3C2AA7}" type="slidenum">
              <a:rPr lang="ru-RU" sz="1200" b="0" strike="noStrike" spc="-1">
                <a:solidFill>
                  <a:srgbClr val="000000"/>
                </a:solidFill>
                <a:latin typeface="Times New Roman"/>
              </a:rPr>
              <a:t>29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9F79888-E724-4D12-BA88-937F7E530F13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EFDC634-2D54-4404-A6E6-4AE09AC49E7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00851078-7C2B-4A18-8960-D5D55DDDF07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502D3AB-9180-453C-BA77-D1D6A257336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60D4414-0A4B-4E51-A860-225A79AE7F8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C86D6209-5801-4BD2-B6AA-90482099F1C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84B3305A-14F0-4527-A3BB-DCFFB3B4CBD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1A47BA19-1E43-4067-9749-1DC0BDD2FDB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31044825-5494-4374-9EB5-998613D5FBD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87A02CD0-99E8-4747-9931-1F9BD638DAF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E15D90CB-F744-4ED6-8BA0-75BDB9362F1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354CF88-C397-40D8-BDA4-9FB735EF2122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A20983B-B38E-4280-BF1D-F1BB3E476624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EB4EE99-03C2-41E6-8A56-19CB960369A5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E1DA3C5-F4D7-451D-8F01-D9EB0FE34C53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6B9D67E-7B16-4879-A16E-EB966A0C0E19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2F02917-A8D5-4181-AB6A-9293C22AB2D7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AD9E69-0922-4396-8955-AD1A6B01AA59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1CBAFE-7505-48B2-AD1D-792213D304C3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87E0FBE-D962-4374-AAEC-4B43B0F6D820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244152D-07A4-4BE1-B867-4840F7040969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C6A1BB-4A87-4420-A55D-9C77C84E962D}" type="slidenum">
              <a:rPr lang="ru-RU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1920960" y="3573720"/>
            <a:ext cx="9238680" cy="2143080"/>
          </a:xfrm>
          <a:prstGeom prst="rect">
            <a:avLst/>
          </a:prstGeom>
          <a:noFill/>
          <a:ln w="0"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 defTabSz="914400">
              <a:lnSpc>
                <a:spcPct val="100000"/>
              </a:lnSpc>
              <a:spcBef>
                <a:spcPts val="1001"/>
              </a:spcBef>
              <a:spcAft>
                <a:spcPts val="1000"/>
              </a:spcAft>
              <a:tabLst>
                <a:tab pos="0" algn="l"/>
              </a:tabLst>
            </a:pPr>
            <a:r>
              <a:rPr sz="1600" b="0" i="0">
                <a:solidFill>
                  <a:srgbClr val="000000"/>
                </a:solidFill>
                <a:latin typeface="Arial"/>
              </a:rPr>
              <a:t>Студент: _______________ Мальцев Кирилл Леонидович, группа 3341
Руководитель:___________ Племянников А.К., доцент каф. ИБ</a:t>
            </a:r>
            <a:endParaRPr lang="ru-RU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3"/>
          <p:cNvSpPr/>
          <p:nvPr/>
        </p:nvSpPr>
        <p:spPr>
          <a:xfrm>
            <a:off x="1523880" y="343080"/>
            <a:ext cx="914328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Санкт-Петербургский государственный электротехнический </a:t>
            </a:r>
          </a:p>
          <a:p>
            <a:pPr algn="ctr" defTabSz="914400"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университет «ЛЭТИ» им. В.И. Ульянова (Ленина) </a:t>
            </a:r>
          </a:p>
        </p:txBody>
      </p:sp>
      <p:sp>
        <p:nvSpPr>
          <p:cNvPr id="57" name="TextBox 4"/>
          <p:cNvSpPr/>
          <p:nvPr/>
        </p:nvSpPr>
        <p:spPr>
          <a:xfrm>
            <a:off x="1523880" y="1731240"/>
            <a:ext cx="9143280" cy="943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2500" b="1" strike="noStrike" spc="-1">
                <a:solidFill>
                  <a:srgbClr val="000000"/>
                </a:solidFill>
                <a:latin typeface="Arial"/>
              </a:rPr>
              <a:t>Лабораторная №</a:t>
            </a:r>
            <a:r>
              <a:rPr lang="en-US" sz="2500" b="1" strike="noStrike" spc="-1">
                <a:solidFill>
                  <a:srgbClr val="000000"/>
                </a:solidFill>
                <a:latin typeface="Arial"/>
              </a:rPr>
              <a:t> 1</a:t>
            </a:r>
            <a:endParaRPr lang="ru-RU" sz="2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2500" b="1" i="1" strike="noStrike" spc="-1">
                <a:solidFill>
                  <a:srgbClr val="000000"/>
                </a:solidFill>
                <a:latin typeface="Arial"/>
              </a:rPr>
              <a:t> Изучение классических шифров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5"/>
          <p:cNvSpPr/>
          <p:nvPr/>
        </p:nvSpPr>
        <p:spPr>
          <a:xfrm>
            <a:off x="1523880" y="5868720"/>
            <a:ext cx="9143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l" defTabSz="914400">
              <a:lnSpc>
                <a:spcPct val="100000"/>
              </a:lnSpc>
            </a:pPr>
            <a:r>
              <a:rPr sz="1400" b="0" i="0">
                <a:solidFill>
                  <a:srgbClr val="000000"/>
                </a:solidFill>
                <a:latin typeface="Arial"/>
              </a:rPr>
              <a:t>Санкт-Петербург 2026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527048" y="256032"/>
            <a:ext cx="9144000" cy="18288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527048" y="6446520"/>
            <a:ext cx="9144000" cy="18288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/>
          </p:nvPr>
        </p:nvSpPr>
        <p:spPr>
          <a:xfrm>
            <a:off x="838080" y="582840"/>
            <a:ext cx="10514880" cy="5918040"/>
          </a:xfrm>
          <a:prstGeom prst="rect">
            <a:avLst/>
          </a:prstGeom>
          <a:noFill/>
          <a:ln w="0"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indent="0" algn="l" defTabSz="914400">
              <a:lnSpc>
                <a:spcPct val="100000"/>
              </a:lnSpc>
              <a:spcBef>
                <a:spcPts val="1001"/>
              </a:spcBef>
              <a:spcAft>
                <a:spcPts val="500"/>
              </a:spcAft>
              <a:buNone/>
              <a:tabLst>
                <a:tab pos="0" algn="l"/>
              </a:tabLst>
            </a:pPr>
            <a:r>
              <a:rPr sz="2000" b="1">
                <a:solidFill>
                  <a:srgbClr val="000000"/>
                </a:solidFill>
                <a:latin typeface="Arial"/>
              </a:rPr>
              <a:t>Цель. Изучить шифры Scytale, Агентурный, Vigenere, Hill и ADFGVX, а также шифр по варианту.</a:t>
            </a:r>
            <a:endParaRPr lang="ru-RU" sz="2400" b="0" strike="noStrike" spc="-1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Задачи: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1) Изучить Scytale.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2) Изучить Агентурный шифр.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3) Изучить Vigenere.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4) Изучить Hill.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5) Изучить ADFGVX.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6) Изучить шифр, заданный вариантом.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1248" y="512064"/>
            <a:ext cx="10515600" cy="22860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i="0">
                <a:solidFill>
                  <a:srgbClr val="000000"/>
                </a:solidFill>
                <a:latin typeface="Arial"/>
              </a:rPr>
              <a:t>Scytale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indent="0" algn="l" defTabSz="914400">
              <a:lnSpc>
                <a:spcPct val="100000"/>
              </a:lnSpc>
              <a:spcBef>
                <a:spcPts val="1001"/>
              </a:spcBef>
              <a:spcAft>
                <a:spcPts val="800"/>
              </a:spcAft>
              <a:buNone/>
              <a:tabLst>
                <a:tab pos="0" algn="l"/>
              </a:tabLst>
            </a:pPr>
            <a:r>
              <a:rPr sz="1900" b="0">
                <a:solidFill>
                  <a:srgbClr val="000000"/>
                </a:solidFill>
                <a:latin typeface="Arial"/>
              </a:rPr>
              <a:t>Классический перестановочный шифр: меняется порядок символов сообщения.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Ключ — количество строк k. Число столбцов: ⌈n / k⌉, где n — длина открытого текста.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Сложность перебора ключа: O(n), где n — длина шифротекста.</a:t>
            </a:r>
          </a:p>
        </p:txBody>
      </p:sp>
      <p:sp>
        <p:nvSpPr>
          <p:cNvPr id="62" name="AccentLine"/>
          <p:cNvSpPr/>
          <p:nvPr/>
        </p:nvSpPr>
        <p:spPr>
          <a:xfrm>
            <a:off x="841248" y="1572768"/>
            <a:ext cx="10515600" cy="22860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/>
          </p:nvPr>
        </p:nvSpPr>
        <p:spPr>
          <a:xfrm>
            <a:off x="838080" y="461520"/>
            <a:ext cx="3768480" cy="571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550" b="0">
                <a:solidFill>
                  <a:srgbClr val="000000"/>
                </a:solidFill>
                <a:latin typeface="Arial"/>
              </a:rPr>
              <a:t>Открытый текст: maltsev (len = 7)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Ключ: 7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Шифротекст: maltsev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C0605B-44E3-551A-BE7E-5B46AC577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560" y="461520"/>
            <a:ext cx="7094914" cy="4255862"/>
          </a:xfrm>
          <a:prstGeom prst="rect">
            <a:avLst/>
          </a:prstGeom>
        </p:spPr>
      </p:pic>
      <p:pic>
        <p:nvPicPr>
          <p:cNvPr id="63" name="Picture 62" descr="scytal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0" y="3651489"/>
            <a:ext cx="870404" cy="2595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/>
          </p:nvPr>
        </p:nvSpPr>
        <p:spPr>
          <a:xfrm>
            <a:off x="838080" y="461520"/>
            <a:ext cx="3967920" cy="571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sz="1550" b="0">
                <a:solidFill>
                  <a:srgbClr val="000000"/>
                </a:solidFill>
                <a:latin typeface="Arial"/>
              </a:rPr>
              <a:t>Открытый текст: maltsev (len = 7)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Ключ: 5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Шифротекст: mlsv_ate__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5D7B81-B773-C79C-7977-85EDEF77F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375409"/>
            <a:ext cx="5344855" cy="3053591"/>
          </a:xfrm>
          <a:prstGeom prst="rect">
            <a:avLst/>
          </a:prstGeom>
        </p:spPr>
      </p:pic>
      <p:pic>
        <p:nvPicPr>
          <p:cNvPr id="66" name="Picture 65" descr="scytal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200" y="3693600"/>
            <a:ext cx="1884960" cy="185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/>
          </p:nvPr>
        </p:nvSpPr>
        <p:spPr>
          <a:xfrm>
            <a:off x="838080" y="461520"/>
            <a:ext cx="3768480" cy="571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550" b="0">
                <a:solidFill>
                  <a:srgbClr val="000000"/>
                </a:solidFill>
                <a:latin typeface="Arial"/>
              </a:rPr>
              <a:t>Открытый текст: maltsev (len = 7)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Ключ: 2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Шифротекст: msaelvt_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D09D93-C8D7-164C-93A7-49A5CE5F2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537" y="461520"/>
            <a:ext cx="4928746" cy="3259267"/>
          </a:xfrm>
          <a:prstGeom prst="rect">
            <a:avLst/>
          </a:prstGeom>
        </p:spPr>
      </p:pic>
      <p:pic>
        <p:nvPicPr>
          <p:cNvPr id="69" name="Picture 68" descr="scytal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040" y="4048920"/>
            <a:ext cx="3136320" cy="74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i="0">
                <a:solidFill>
                  <a:srgbClr val="000000"/>
                </a:solidFill>
                <a:latin typeface="Arial"/>
              </a:rPr>
              <a:t>Внешняя спецификация алгоритма расшифрования Scytale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indent="0" algn="l" defTabSz="914400">
              <a:lnSpc>
                <a:spcPct val="100000"/>
              </a:lnSpc>
              <a:spcBef>
                <a:spcPts val="1001"/>
              </a:spcBef>
              <a:spcAft>
                <a:spcPts val="900"/>
              </a:spcAft>
              <a:buNone/>
              <a:tabLst>
                <a:tab pos="0" algn="l"/>
              </a:tabLst>
            </a:pPr>
            <a:r>
              <a:rPr sz="1700" b="0">
                <a:solidFill>
                  <a:srgbClr val="000000"/>
                </a:solidFill>
                <a:latin typeface="Arial"/>
              </a:rPr>
              <a:t>Назначение: восстановление открытого текста из шифротекста.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Вход: C — шифротекст; k — ключ.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Выход: S — открытое сообщение.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Ограничения: C — набор символов; k &gt; 0.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Алгоритм: построить таблицу k × ⌈n/k⌉; записать C по столбцам; прочитать таблицу построчно.</a:t>
            </a:r>
          </a:p>
        </p:txBody>
      </p:sp>
      <p:sp>
        <p:nvSpPr>
          <p:cNvPr id="73" name="AccentLine"/>
          <p:cNvSpPr/>
          <p:nvPr/>
        </p:nvSpPr>
        <p:spPr>
          <a:xfrm>
            <a:off x="841248" y="1572768"/>
            <a:ext cx="10515600" cy="22860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i="0">
                <a:solidFill>
                  <a:srgbClr val="000000"/>
                </a:solidFill>
                <a:latin typeface="Arial"/>
              </a:rPr>
              <a:t>Блок-схема алгоритма расшифрования Scytale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841248" y="1069848"/>
            <a:ext cx="10515600" cy="18288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5074920" y="1234440"/>
            <a:ext cx="2011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Arial"/>
              </a:rPr>
              <a:t>Начало</a:t>
            </a:r>
          </a:p>
        </p:txBody>
      </p:sp>
      <p:sp>
        <p:nvSpPr>
          <p:cNvPr id="77" name="Parallelogram 76"/>
          <p:cNvSpPr/>
          <p:nvPr/>
        </p:nvSpPr>
        <p:spPr>
          <a:xfrm>
            <a:off x="4919472" y="1783080"/>
            <a:ext cx="2331720" cy="56692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Ввод
C — шифротекст
k — ключ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800600" y="2496312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n = длина(C)
m = ⌈n / k⌉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09160" y="320040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Создать таблицу E(k × m)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800600" y="3904487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i = 0; j = 0; p = 0</a:t>
            </a:r>
          </a:p>
        </p:txBody>
      </p:sp>
      <p:sp>
        <p:nvSpPr>
          <p:cNvPr id="81" name="Diamond 80"/>
          <p:cNvSpPr/>
          <p:nvPr/>
        </p:nvSpPr>
        <p:spPr>
          <a:xfrm>
            <a:off x="4526280" y="4608576"/>
            <a:ext cx="310896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100">
                <a:solidFill>
                  <a:srgbClr val="000000"/>
                </a:solidFill>
                <a:latin typeface="Arial"/>
              </a:rPr>
              <a:t>p &lt; n ?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51560" y="4590288"/>
            <a:ext cx="2468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E[i,j] = C[p]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34440" y="5504688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i++, p++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138160" y="4590288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j = 0; p = 0</a:t>
            </a:r>
          </a:p>
        </p:txBody>
      </p:sp>
      <p:sp>
        <p:nvSpPr>
          <p:cNvPr id="85" name="Diamond 84"/>
          <p:cNvSpPr/>
          <p:nvPr/>
        </p:nvSpPr>
        <p:spPr>
          <a:xfrm>
            <a:off x="7955279" y="5486400"/>
            <a:ext cx="315468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i = k ИЛИ E[i,j] = " " 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321040" y="6172200"/>
            <a:ext cx="2331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900" dirty="0">
                <a:solidFill>
                  <a:srgbClr val="000000"/>
                </a:solidFill>
                <a:latin typeface="Arial"/>
              </a:rPr>
              <a:t>S += E[</a:t>
            </a:r>
            <a:r>
              <a:rPr sz="900" dirty="0" err="1">
                <a:solidFill>
                  <a:srgbClr val="000000"/>
                </a:solidFill>
                <a:latin typeface="Arial"/>
              </a:rPr>
              <a:t>i,j</a:t>
            </a:r>
            <a:r>
              <a:rPr sz="900" dirty="0">
                <a:solidFill>
                  <a:srgbClr val="000000"/>
                </a:solidFill>
                <a:latin typeface="Arial"/>
              </a:rPr>
              <a:t>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977639" y="46817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000000"/>
                </a:solidFill>
                <a:latin typeface="Arial"/>
              </a:rPr>
              <a:t>Да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80960" y="46817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000000"/>
                </a:solidFill>
                <a:latin typeface="Arial"/>
              </a:rPr>
              <a:t>Нет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360920" y="54681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dirty="0" err="1">
                <a:solidFill>
                  <a:srgbClr val="000000"/>
                </a:solidFill>
                <a:latin typeface="Arial"/>
              </a:rPr>
              <a:t>Нет</a:t>
            </a:r>
            <a:endParaRPr sz="1000" b="0" i="0" dirty="0">
              <a:solidFill>
                <a:srgbClr val="2D2D2D"/>
              </a:solidFill>
              <a:latin typeface="Arial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0625328" y="566928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000000"/>
                </a:solidFill>
                <a:latin typeface="Arial"/>
              </a:rPr>
              <a:t>Да</a:t>
            </a:r>
          </a:p>
        </p:txBody>
      </p:sp>
      <p:sp>
        <p:nvSpPr>
          <p:cNvPr id="104" name="Parallelogram 103"/>
          <p:cNvSpPr/>
          <p:nvPr/>
        </p:nvSpPr>
        <p:spPr>
          <a:xfrm>
            <a:off x="8366760" y="6565392"/>
            <a:ext cx="2240280" cy="320040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900" dirty="0" err="1">
                <a:solidFill>
                  <a:srgbClr val="000000"/>
                </a:solidFill>
                <a:latin typeface="Arial"/>
              </a:rPr>
              <a:t>Вывести</a:t>
            </a:r>
            <a:r>
              <a:rPr sz="900" dirty="0">
                <a:solidFill>
                  <a:srgbClr val="000000"/>
                </a:solidFill>
                <a:latin typeface="Arial"/>
              </a:rPr>
              <a:t> S → </a:t>
            </a:r>
            <a:r>
              <a:rPr sz="900" dirty="0" err="1">
                <a:solidFill>
                  <a:srgbClr val="000000"/>
                </a:solidFill>
                <a:latin typeface="Arial"/>
              </a:rPr>
              <a:t>Конец</a:t>
            </a:r>
            <a:endParaRPr sz="900" dirty="0">
              <a:solidFill>
                <a:srgbClr val="2D2D2D"/>
              </a:solidFill>
              <a:latin typeface="Arial"/>
            </a:endParaRPr>
          </a:p>
        </p:txBody>
      </p:sp>
      <p:cxnSp>
        <p:nvCxnSpPr>
          <p:cNvPr id="105" name="Connector 104"/>
          <p:cNvCxnSpPr/>
          <p:nvPr/>
        </p:nvCxnSpPr>
        <p:spPr>
          <a:xfrm>
            <a:off x="6080760" y="1673352"/>
            <a:ext cx="0" cy="109728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6080760" y="2350008"/>
            <a:ext cx="0" cy="146304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6080760" y="3063240"/>
            <a:ext cx="0" cy="1371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6080760" y="3767328"/>
            <a:ext cx="0" cy="137159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6080760" y="4471416"/>
            <a:ext cx="0" cy="1371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>
            <a:off x="3520440" y="4937760"/>
            <a:ext cx="1005840" cy="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2286000" y="5230368"/>
            <a:ext cx="0" cy="27432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337560" y="5760720"/>
            <a:ext cx="777240" cy="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4114800" y="4937760"/>
            <a:ext cx="411480" cy="8229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635240" y="4937760"/>
            <a:ext cx="502920" cy="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509760" y="5230368"/>
            <a:ext cx="0" cy="256032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 flipV="1">
            <a:off x="3337560" y="5760720"/>
            <a:ext cx="4617719" cy="54864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9528048" y="6144768"/>
            <a:ext cx="0" cy="27432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491472" y="6556248"/>
            <a:ext cx="0" cy="9144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i="0">
                <a:solidFill>
                  <a:srgbClr val="000000"/>
                </a:solidFill>
                <a:latin typeface="Arial"/>
              </a:rPr>
              <a:t>Агентурный шифр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wrap="square" lIns="18288" tIns="18288" rIns="18288" bIns="18288" anchor="t">
            <a:normAutofit fontScale="92777"/>
          </a:bodyPr>
          <a:lstStyle/>
          <a:p>
            <a:pPr indent="0" algn="l" defTabSz="914400">
              <a:lnSpc>
                <a:spcPct val="100000"/>
              </a:lnSpc>
              <a:spcBef>
                <a:spcPts val="1001"/>
              </a:spcBef>
              <a:spcAft>
                <a:spcPts val="800"/>
              </a:spcAft>
              <a:buNone/>
              <a:tabLst>
                <a:tab pos="0" algn="l"/>
              </a:tabLst>
            </a:pPr>
            <a:r>
              <a:rPr sz="1900" b="0">
                <a:solidFill>
                  <a:srgbClr val="000000"/>
                </a:solidFill>
                <a:latin typeface="Arial"/>
              </a:rPr>
              <a:t>Моноалфавитная подстановка: каждый символ заменяется символом из ключевого алфавита.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Ключи — пароль и сдвиг. Пароль формирует ключевой алфавит: уникальные символы пароля + отсутствующие символы исходного алфавита.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Сдвиг задаёт циклическое смещение ключевого алфавита.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Сложность перебора: O(n!). Возможен частотный анализ.</a:t>
            </a:r>
          </a:p>
        </p:txBody>
      </p:sp>
      <p:sp>
        <p:nvSpPr>
          <p:cNvPr id="77" name="AccentLine"/>
          <p:cNvSpPr/>
          <p:nvPr/>
        </p:nvSpPr>
        <p:spPr>
          <a:xfrm>
            <a:off x="841248" y="1572768"/>
            <a:ext cx="10515600" cy="22860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/>
          </p:nvPr>
        </p:nvSpPr>
        <p:spPr>
          <a:xfrm>
            <a:off x="360000" y="461520"/>
            <a:ext cx="4246560" cy="277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550" b="0">
                <a:solidFill>
                  <a:srgbClr val="000000"/>
                </a:solidFill>
                <a:latin typeface="Arial"/>
              </a:rPr>
              <a:t>Открытый текст: maltsev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Ключ: roy; 0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Шифротекст: jrisqbu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C9194C-1591-D073-1D1D-E8B66EE1C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684" y="461520"/>
            <a:ext cx="6652999" cy="4435333"/>
          </a:xfrm>
          <a:prstGeom prst="rect">
            <a:avLst/>
          </a:prstGeom>
        </p:spPr>
      </p:pic>
      <p:pic>
        <p:nvPicPr>
          <p:cNvPr id="78" name="Picture 77" descr="agentur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800" y="5125680"/>
            <a:ext cx="9361800" cy="715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/>
          </p:nvPr>
        </p:nvSpPr>
        <p:spPr>
          <a:xfrm>
            <a:off x="180000" y="461520"/>
            <a:ext cx="4426560" cy="1517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550" b="0">
                <a:solidFill>
                  <a:srgbClr val="000000"/>
                </a:solidFill>
                <a:latin typeface="Arial"/>
              </a:rPr>
              <a:t>Открытый текст: maltsev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Ключ: roy; 2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Шифротекст: lykutdw</a:t>
            </a:r>
            <a:endParaRPr lang="en-US" sz="2800" b="0" strike="noStrike" spc="-1" dirty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149B64-C6BB-BDE1-54F6-B9A3F7121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018" y="461520"/>
            <a:ext cx="7017377" cy="4566596"/>
          </a:xfrm>
          <a:prstGeom prst="rect">
            <a:avLst/>
          </a:prstGeom>
        </p:spPr>
      </p:pic>
      <p:pic>
        <p:nvPicPr>
          <p:cNvPr id="81" name="Picture 80" descr="agentu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800" y="5330160"/>
            <a:ext cx="9361800" cy="718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i="0">
                <a:solidFill>
                  <a:srgbClr val="000000"/>
                </a:solidFill>
                <a:latin typeface="Arial"/>
              </a:rPr>
              <a:t>Внешняя спецификация алгоритма расшифрования Агентурного шифра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wrap="square" lIns="18288" tIns="18288" rIns="18288" bIns="18288" anchor="t">
            <a:normAutofit fontScale="94722"/>
          </a:bodyPr>
          <a:lstStyle/>
          <a:p>
            <a:pPr indent="0" algn="l" defTabSz="914400">
              <a:lnSpc>
                <a:spcPct val="100000"/>
              </a:lnSpc>
              <a:spcBef>
                <a:spcPts val="1001"/>
              </a:spcBef>
              <a:spcAft>
                <a:spcPts val="900"/>
              </a:spcAft>
              <a:buNone/>
              <a:tabLst>
                <a:tab pos="0" algn="l"/>
              </a:tabLst>
            </a:pPr>
            <a:r>
              <a:rPr sz="1700" b="0">
                <a:solidFill>
                  <a:srgbClr val="000000"/>
                </a:solidFill>
                <a:latin typeface="Arial"/>
              </a:rPr>
              <a:t>Назначение: восстановление открытого текста из шифротекста.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Вход: C — шифротекст; p — пароль; s — сдвиг.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Выход: S — открытое сообщение.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Ограничения: C, p — наборы символов; s ≥ 0.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Алгоритм: сформировать ключевой алфавит по p; выполнить обратный сдвиг на s; для каждого символа C найти соответствие и записать символ в S.</a:t>
            </a:r>
          </a:p>
        </p:txBody>
      </p:sp>
      <p:sp>
        <p:nvSpPr>
          <p:cNvPr id="88" name="AccentLine"/>
          <p:cNvSpPr/>
          <p:nvPr/>
        </p:nvSpPr>
        <p:spPr>
          <a:xfrm>
            <a:off x="841248" y="1572768"/>
            <a:ext cx="10515600" cy="22860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i="0">
                <a:solidFill>
                  <a:srgbClr val="000000"/>
                </a:solidFill>
                <a:latin typeface="Arial"/>
              </a:rPr>
              <a:t>Блок-схема алгоритма расшифрования Агентурного шифра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841248" y="1069848"/>
            <a:ext cx="10515600" cy="18288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5166360" y="123444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Arial"/>
              </a:rPr>
              <a:t>Начало</a:t>
            </a:r>
          </a:p>
        </p:txBody>
      </p:sp>
      <p:sp>
        <p:nvSpPr>
          <p:cNvPr id="92" name="Parallelogram 91"/>
          <p:cNvSpPr/>
          <p:nvPr/>
        </p:nvSpPr>
        <p:spPr>
          <a:xfrm>
            <a:off x="4937760" y="1783080"/>
            <a:ext cx="2286000" cy="56692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Ввод C, p, 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663440" y="2468880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Сформировать ключевой
алфавит по p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754880" y="3172968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Обратный сдвиг на 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800600" y="3877056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i = 0; S = ""</a:t>
            </a:r>
          </a:p>
        </p:txBody>
      </p:sp>
      <p:sp>
        <p:nvSpPr>
          <p:cNvPr id="96" name="Diamond 95"/>
          <p:cNvSpPr/>
          <p:nvPr/>
        </p:nvSpPr>
        <p:spPr>
          <a:xfrm>
            <a:off x="4572000" y="4590288"/>
            <a:ext cx="3017520" cy="6400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100">
                <a:solidFill>
                  <a:srgbClr val="000000"/>
                </a:solidFill>
                <a:latin typeface="Arial"/>
              </a:rPr>
              <a:t>i &lt; длина(C) ?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234440" y="4645152"/>
            <a:ext cx="2377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x = C[i] в таблице замены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371600" y="553212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S[i] = x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508760" y="6172200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i++</a:t>
            </a:r>
          </a:p>
        </p:txBody>
      </p:sp>
      <p:sp>
        <p:nvSpPr>
          <p:cNvPr id="100" name="Parallelogram 99"/>
          <p:cNvSpPr/>
          <p:nvPr/>
        </p:nvSpPr>
        <p:spPr>
          <a:xfrm>
            <a:off x="8366760" y="4681728"/>
            <a:ext cx="2103120" cy="47548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Вывести 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366760" y="5486400"/>
            <a:ext cx="2103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Конец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5852160" y="1645920"/>
            <a:ext cx="228600" cy="1371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6080760" y="2350008"/>
            <a:ext cx="0" cy="118872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6080760" y="3035808"/>
            <a:ext cx="0" cy="1371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6080760" y="3739896"/>
            <a:ext cx="0" cy="1371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6080760" y="4443984"/>
            <a:ext cx="0" cy="146304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3611880" y="4910328"/>
            <a:ext cx="960120" cy="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4041648" y="466344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000000"/>
                </a:solidFill>
                <a:latin typeface="Arial"/>
              </a:rPr>
              <a:t>Да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2423160" y="5266944"/>
            <a:ext cx="0" cy="265176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423160" y="6035040"/>
            <a:ext cx="0" cy="1371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337560" y="6364224"/>
            <a:ext cx="868680" cy="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4206240" y="4910328"/>
            <a:ext cx="365760" cy="1453895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589520" y="4910328"/>
            <a:ext cx="777240" cy="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7754112" y="466344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000000"/>
                </a:solidFill>
                <a:latin typeface="Arial"/>
              </a:rPr>
              <a:t>Нет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9418320" y="5157216"/>
            <a:ext cx="0" cy="329184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i="0" dirty="0" err="1">
                <a:solidFill>
                  <a:srgbClr val="000000"/>
                </a:solidFill>
                <a:latin typeface="Arial"/>
              </a:rPr>
              <a:t>Vigenere</a:t>
            </a:r>
            <a:endParaRPr lang="ru-RU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wrap="square" lIns="18288" tIns="18288" rIns="18288" bIns="18288" anchor="t">
            <a:normAutofit fontScale="94722"/>
          </a:bodyPr>
          <a:lstStyle/>
          <a:p>
            <a:pPr indent="0" algn="l" defTabSz="914400">
              <a:lnSpc>
                <a:spcPct val="100000"/>
              </a:lnSpc>
              <a:spcBef>
                <a:spcPts val="1001"/>
              </a:spcBef>
              <a:spcAft>
                <a:spcPts val="800"/>
              </a:spcAft>
              <a:buNone/>
              <a:tabLst>
                <a:tab pos="0" algn="l"/>
              </a:tabLst>
            </a:pPr>
            <a:r>
              <a:rPr sz="1900" b="0" dirty="0">
                <a:solidFill>
                  <a:srgbClr val="000000"/>
                </a:solidFill>
                <a:latin typeface="Arial"/>
              </a:rPr>
              <a:t>Классический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полиалфавитный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шифр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подстановки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.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900" b="0" dirty="0" err="1">
                <a:solidFill>
                  <a:srgbClr val="000000"/>
                </a:solidFill>
                <a:latin typeface="Arial"/>
              </a:rPr>
              <a:t>Ключ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—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повторяющееся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ключевое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слово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900" b="0" dirty="0" err="1">
                <a:solidFill>
                  <a:srgbClr val="000000"/>
                </a:solidFill>
                <a:latin typeface="Arial"/>
              </a:rPr>
              <a:t>При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шифровании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значения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символов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открытого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текста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и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ключа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складываются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по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модулю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размера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алфавита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.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Ключ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повторяется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до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длины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сообщения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900" b="0" dirty="0" err="1">
                <a:solidFill>
                  <a:srgbClr val="000000"/>
                </a:solidFill>
                <a:latin typeface="Arial"/>
              </a:rPr>
              <a:t>Сложность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перебора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: O(n! / (n - m)!),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где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n —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размер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алфавита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, m —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длина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ключа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.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Возможны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автокорреляционный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и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статистический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анализ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92" name="AccentLine"/>
          <p:cNvSpPr/>
          <p:nvPr/>
        </p:nvSpPr>
        <p:spPr>
          <a:xfrm>
            <a:off x="841248" y="1572768"/>
            <a:ext cx="10515600" cy="22860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/>
          </p:nvPr>
        </p:nvSpPr>
        <p:spPr>
          <a:xfrm>
            <a:off x="180000" y="461520"/>
            <a:ext cx="4426560" cy="1517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200" b="1" strike="noStrike" spc="-1" dirty="0">
                <a:solidFill>
                  <a:srgbClr val="000000"/>
                </a:solidFill>
                <a:latin typeface="Arial"/>
              </a:rPr>
              <a:t>Открытый текст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2200" b="1" strike="noStrike" spc="-1" dirty="0" err="1">
                <a:solidFill>
                  <a:srgbClr val="000000"/>
                </a:solidFill>
                <a:latin typeface="Arial"/>
              </a:rPr>
              <a:t>maltsev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200" b="1" strike="noStrike" spc="-1" dirty="0">
                <a:solidFill>
                  <a:srgbClr val="000000"/>
                </a:solidFill>
                <a:latin typeface="Arial"/>
              </a:rPr>
              <a:t>Ключ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: key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200" b="1" strike="noStrike" spc="-1" dirty="0">
                <a:solidFill>
                  <a:srgbClr val="000000"/>
                </a:solidFill>
                <a:latin typeface="Arial"/>
              </a:rPr>
              <a:t>Шифротекст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2200" b="1" strike="noStrike" spc="-1" dirty="0" err="1">
                <a:solidFill>
                  <a:srgbClr val="000000"/>
                </a:solidFill>
                <a:latin typeface="Arial"/>
              </a:rPr>
              <a:t>wejdwcf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Picture 92" descr="v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22" y="3045574"/>
            <a:ext cx="5825473" cy="346974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0C93E75-6886-F182-9D74-718D3669D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959" y="461520"/>
            <a:ext cx="7712964" cy="48916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/>
          </p:nvPr>
        </p:nvSpPr>
        <p:spPr>
          <a:xfrm>
            <a:off x="0" y="461520"/>
            <a:ext cx="4606560" cy="1517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200" b="1" strike="noStrike" spc="-1" dirty="0">
                <a:solidFill>
                  <a:srgbClr val="000000"/>
                </a:solidFill>
                <a:latin typeface="Arial"/>
              </a:rPr>
              <a:t>Открытый текст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2200" b="1" spc="-1" dirty="0">
                <a:solidFill>
                  <a:srgbClr val="000000"/>
                </a:solidFill>
                <a:latin typeface="Arial"/>
              </a:rPr>
              <a:t>text</a:t>
            </a:r>
            <a:endParaRPr lang="en-US" sz="28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200" b="1" strike="noStrike" spc="-1" dirty="0">
                <a:solidFill>
                  <a:srgbClr val="000000"/>
                </a:solidFill>
                <a:latin typeface="Arial"/>
              </a:rPr>
              <a:t>Ключ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: key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ru-RU" sz="2200" b="1" strike="noStrike" spc="-1" dirty="0">
                <a:solidFill>
                  <a:srgbClr val="000000"/>
                </a:solidFill>
                <a:latin typeface="Arial"/>
              </a:rPr>
              <a:t>Шифротекст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2200" b="1" strike="noStrike" spc="-1" dirty="0" err="1">
                <a:solidFill>
                  <a:srgbClr val="000000"/>
                </a:solidFill>
                <a:latin typeface="Arial"/>
              </a:rPr>
              <a:t>divd</a:t>
            </a:r>
            <a:endParaRPr lang="en-US" sz="28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Picture 95" descr="v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67" y="3043989"/>
            <a:ext cx="6485760" cy="35271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98509FC-DCE7-D4BE-0114-CE937A58F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8547" y="511342"/>
            <a:ext cx="7546101" cy="45707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i="0">
                <a:solidFill>
                  <a:srgbClr val="000000"/>
                </a:solidFill>
                <a:latin typeface="Arial"/>
              </a:rPr>
              <a:t>Внешняя спецификация алгоритма расшифрования Vigenere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wrap="square" lIns="18288" tIns="18288" rIns="18288" bIns="18288" anchor="t">
            <a:normAutofit fontScale="96666"/>
          </a:bodyPr>
          <a:lstStyle/>
          <a:p>
            <a:pPr indent="0" algn="l" defTabSz="914400">
              <a:lnSpc>
                <a:spcPct val="100000"/>
              </a:lnSpc>
              <a:spcBef>
                <a:spcPts val="1001"/>
              </a:spcBef>
              <a:spcAft>
                <a:spcPts val="900"/>
              </a:spcAft>
              <a:buNone/>
              <a:tabLst>
                <a:tab pos="0" algn="l"/>
              </a:tabLst>
            </a:pPr>
            <a:r>
              <a:rPr sz="1700" b="0">
                <a:solidFill>
                  <a:srgbClr val="000000"/>
                </a:solidFill>
                <a:latin typeface="Arial"/>
              </a:rPr>
              <a:t>Назначение: восстановление открытого текста из шифротекста.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Вход: C — шифротекст; p — ключевое слово.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Выход: S — открытое сообщение.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Ограничения: C, p — наборы символов.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Алгоритм: пронумеровать алфавит от 0; циклически повторить p до длины C; вычислять Sᵢ = (Cᵢ − pᵢ) mod m, где m — размер алфавита.</a:t>
            </a:r>
          </a:p>
        </p:txBody>
      </p:sp>
      <p:sp>
        <p:nvSpPr>
          <p:cNvPr id="100" name="AccentLine"/>
          <p:cNvSpPr/>
          <p:nvPr/>
        </p:nvSpPr>
        <p:spPr>
          <a:xfrm>
            <a:off x="841248" y="1572768"/>
            <a:ext cx="10515600" cy="22860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i="0">
                <a:solidFill>
                  <a:srgbClr val="000000"/>
                </a:solidFill>
                <a:latin typeface="Arial"/>
              </a:rPr>
              <a:t>Блок-схема алгоритма расшифрования Vigenere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841248" y="1069848"/>
            <a:ext cx="10515600" cy="18288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5166360" y="123444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Arial"/>
              </a:rPr>
              <a:t>Начало</a:t>
            </a:r>
          </a:p>
        </p:txBody>
      </p:sp>
      <p:sp>
        <p:nvSpPr>
          <p:cNvPr id="104" name="Parallelogram 103"/>
          <p:cNvSpPr/>
          <p:nvPr/>
        </p:nvSpPr>
        <p:spPr>
          <a:xfrm>
            <a:off x="4937760" y="1783080"/>
            <a:ext cx="2286000" cy="56692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Ввод C, p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617720" y="2468880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Пронумеровать алфавит
от 0 до m − 1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17720" y="3172968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Повторить p циклически
до длины C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800600" y="3877056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i = 0; S = ""</a:t>
            </a:r>
          </a:p>
        </p:txBody>
      </p:sp>
      <p:sp>
        <p:nvSpPr>
          <p:cNvPr id="108" name="Diamond 107"/>
          <p:cNvSpPr/>
          <p:nvPr/>
        </p:nvSpPr>
        <p:spPr>
          <a:xfrm>
            <a:off x="4572000" y="4590288"/>
            <a:ext cx="3017520" cy="6400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100">
                <a:solidFill>
                  <a:srgbClr val="000000"/>
                </a:solidFill>
                <a:latin typeface="Arial"/>
              </a:rPr>
              <a:t>i &lt; длина(C) ?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88720" y="4626864"/>
            <a:ext cx="2651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S[i] = (C[i] − p[i]) mod 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463040" y="5559552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i++</a:t>
            </a:r>
          </a:p>
        </p:txBody>
      </p:sp>
      <p:sp>
        <p:nvSpPr>
          <p:cNvPr id="111" name="Parallelogram 110"/>
          <p:cNvSpPr/>
          <p:nvPr/>
        </p:nvSpPr>
        <p:spPr>
          <a:xfrm>
            <a:off x="8412480" y="4636008"/>
            <a:ext cx="2011680" cy="47548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Вывести 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412480" y="5486400"/>
            <a:ext cx="20116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Конец</a:t>
            </a:r>
          </a:p>
        </p:txBody>
      </p:sp>
      <p:cxnSp>
        <p:nvCxnSpPr>
          <p:cNvPr id="113" name="Connector 112"/>
          <p:cNvCxnSpPr>
            <a:cxnSpLocks/>
            <a:stCxn id="103" idx="2"/>
          </p:cNvCxnSpPr>
          <p:nvPr/>
        </p:nvCxnSpPr>
        <p:spPr>
          <a:xfrm>
            <a:off x="6080760" y="1645920"/>
            <a:ext cx="0" cy="1371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6080760" y="2350008"/>
            <a:ext cx="0" cy="118872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6080760" y="3035808"/>
            <a:ext cx="0" cy="1371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6080760" y="3739896"/>
            <a:ext cx="0" cy="1371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6080760" y="4443984"/>
            <a:ext cx="0" cy="146304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>
            <a:off x="3840480" y="4910328"/>
            <a:ext cx="731520" cy="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4069080" y="466344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000000"/>
                </a:solidFill>
                <a:latin typeface="Arial"/>
              </a:rPr>
              <a:t>Да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2514600" y="5285232"/>
            <a:ext cx="0" cy="27432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566160" y="5806440"/>
            <a:ext cx="731520" cy="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4297680" y="4910328"/>
            <a:ext cx="320039" cy="896111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589520" y="4910328"/>
            <a:ext cx="822960" cy="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7818120" y="466344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000000"/>
                </a:solidFill>
                <a:latin typeface="Arial"/>
              </a:rPr>
              <a:t>Нет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9418320" y="5120640"/>
            <a:ext cx="0" cy="3657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i="0">
                <a:solidFill>
                  <a:srgbClr val="000000"/>
                </a:solidFill>
                <a:latin typeface="Arial"/>
              </a:rPr>
              <a:t>Hill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775760"/>
          </a:xfrm>
          <a:prstGeom prst="rect">
            <a:avLst/>
          </a:prstGeom>
          <a:noFill/>
          <a:ln w="0">
            <a:noFill/>
          </a:ln>
        </p:spPr>
        <p:txBody>
          <a:bodyPr wrap="square" lIns="18288" tIns="18288" rIns="18288" bIns="18288" anchor="t">
            <a:normAutofit fontScale="94722"/>
          </a:bodyPr>
          <a:lstStyle/>
          <a:p>
            <a:pPr indent="0" algn="l" defTabSz="914400">
              <a:lnSpc>
                <a:spcPct val="100000"/>
              </a:lnSpc>
              <a:spcBef>
                <a:spcPts val="1001"/>
              </a:spcBef>
              <a:spcAft>
                <a:spcPts val="800"/>
              </a:spcAft>
              <a:buNone/>
              <a:tabLst>
                <a:tab pos="0" algn="l"/>
              </a:tabLst>
            </a:pPr>
            <a:r>
              <a:rPr sz="1900" b="0">
                <a:solidFill>
                  <a:srgbClr val="000000"/>
                </a:solidFill>
                <a:latin typeface="Arial"/>
              </a:rPr>
              <a:t>Классический полиграфический шифр подстановки.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Ключ — обратимая квадратная матрица K размера k×k. Текст переводится в числа и разбивается на блоки по k символов; неполный блок дополняется символом x.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Каждый блок умножается на K по модулю размера алфавита.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Сложность перебора: O(n^(k×k)), где n — размер алфавита. Возможна атака по известному открытому тексту.</a:t>
            </a:r>
          </a:p>
        </p:txBody>
      </p:sp>
      <p:sp>
        <p:nvSpPr>
          <p:cNvPr id="104" name="AccentLine"/>
          <p:cNvSpPr/>
          <p:nvPr/>
        </p:nvSpPr>
        <p:spPr>
          <a:xfrm>
            <a:off x="841248" y="1572768"/>
            <a:ext cx="10515600" cy="22860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/>
          </p:nvPr>
        </p:nvSpPr>
        <p:spPr>
          <a:xfrm>
            <a:off x="838080" y="461520"/>
            <a:ext cx="3917520" cy="331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6666"/>
          </a:bodyPr>
          <a:lstStyle/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ru-RU" sz="2200" b="1" strike="noStrike" spc="-1" dirty="0">
                <a:solidFill>
                  <a:srgbClr val="000000"/>
                </a:solidFill>
                <a:latin typeface="Arial"/>
              </a:rPr>
              <a:t>Открытый текст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2200" b="1" strike="noStrike" spc="-1" dirty="0" err="1">
                <a:solidFill>
                  <a:srgbClr val="000000"/>
                </a:solidFill>
                <a:latin typeface="Arial"/>
              </a:rPr>
              <a:t>maltsev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200" b="1" strike="noStrike" spc="-1" dirty="0">
                <a:solidFill>
                  <a:srgbClr val="000000"/>
                </a:solidFill>
                <a:latin typeface="Arial"/>
              </a:rPr>
              <a:t>Ключ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: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6 24 1</a:t>
            </a: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13 16 10</a:t>
            </a: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20 17 15</a:t>
            </a: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ru-RU" sz="2200" b="1" strike="noStrike" spc="-1" dirty="0">
                <a:solidFill>
                  <a:srgbClr val="000000"/>
                </a:solidFill>
                <a:latin typeface="Arial"/>
              </a:rPr>
              <a:t>Шифровка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2200" b="1" strike="noStrike" spc="-1" dirty="0" err="1">
                <a:solidFill>
                  <a:srgbClr val="000000"/>
                </a:solidFill>
                <a:latin typeface="Arial"/>
              </a:rPr>
              <a:t>fgpedsznm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E8DE2A-4119-4BCC-64A2-D62601C24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321" y="939537"/>
            <a:ext cx="7762019" cy="3979949"/>
          </a:xfrm>
          <a:prstGeom prst="rect">
            <a:avLst/>
          </a:prstGeom>
        </p:spPr>
      </p:pic>
      <p:pic>
        <p:nvPicPr>
          <p:cNvPr id="105" name="Picture 104" descr="hill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18" y="4919486"/>
            <a:ext cx="4535280" cy="16603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/>
          </p:nvPr>
        </p:nvSpPr>
        <p:spPr>
          <a:xfrm>
            <a:off x="838079" y="461520"/>
            <a:ext cx="4564099" cy="331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6666"/>
          </a:bodyPr>
          <a:lstStyle/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ru-RU" sz="2200" b="1" strike="noStrike" spc="-1" dirty="0">
                <a:solidFill>
                  <a:srgbClr val="000000"/>
                </a:solidFill>
                <a:latin typeface="Arial"/>
              </a:rPr>
              <a:t>Открытый текст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2200" b="1" strike="noStrike" spc="-1" dirty="0" err="1">
                <a:solidFill>
                  <a:srgbClr val="000000"/>
                </a:solidFill>
                <a:latin typeface="Arial"/>
              </a:rPr>
              <a:t>maltsevkl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200" b="1" strike="noStrike" spc="-1" dirty="0">
                <a:solidFill>
                  <a:srgbClr val="000000"/>
                </a:solidFill>
                <a:latin typeface="Arial"/>
              </a:rPr>
              <a:t>Ключ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: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6 24 1</a:t>
            </a: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13 16 10</a:t>
            </a: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20 17 15</a:t>
            </a: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ru-RU" sz="2200" b="1" strike="noStrike" spc="-1" dirty="0">
                <a:solidFill>
                  <a:srgbClr val="000000"/>
                </a:solidFill>
                <a:latin typeface="Arial"/>
              </a:rPr>
              <a:t>Шифровка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2200" b="1" strike="noStrike" spc="-1" dirty="0" err="1">
                <a:solidFill>
                  <a:srgbClr val="000000"/>
                </a:solidFill>
                <a:latin typeface="Arial"/>
              </a:rPr>
              <a:t>fgpedsnxb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Рисунок 1"/>
          <p:cNvPicPr/>
          <p:nvPr/>
        </p:nvPicPr>
        <p:blipFill>
          <a:blip r:embed="rId3"/>
          <a:stretch/>
        </p:blipFill>
        <p:spPr>
          <a:xfrm>
            <a:off x="5869080" y="5285520"/>
            <a:ext cx="6123960" cy="970920"/>
          </a:xfrm>
          <a:prstGeom prst="rect">
            <a:avLst/>
          </a:prstGeom>
          <a:ln w="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48C538-9386-3D5E-C52B-17B312F93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10" y="171896"/>
            <a:ext cx="5952100" cy="4672624"/>
          </a:xfrm>
          <a:prstGeom prst="rect">
            <a:avLst/>
          </a:prstGeom>
        </p:spPr>
      </p:pic>
      <p:pic>
        <p:nvPicPr>
          <p:cNvPr id="111" name="Picture 110" descr="hill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40" y="4844520"/>
            <a:ext cx="5114880" cy="18525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i="0">
                <a:solidFill>
                  <a:srgbClr val="000000"/>
                </a:solidFill>
                <a:latin typeface="Arial"/>
              </a:rPr>
              <a:t>Внешняя спецификация алгоритма расшифрования Hill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wrap="square" lIns="18288" tIns="18288" rIns="18288" bIns="18288" anchor="t">
            <a:normAutofit fontScale="97499"/>
          </a:bodyPr>
          <a:lstStyle/>
          <a:p>
            <a:pPr indent="0" algn="l" defTabSz="914400">
              <a:lnSpc>
                <a:spcPct val="100000"/>
              </a:lnSpc>
              <a:spcBef>
                <a:spcPts val="1001"/>
              </a:spcBef>
              <a:spcAft>
                <a:spcPts val="900"/>
              </a:spcAft>
              <a:buNone/>
              <a:tabLst>
                <a:tab pos="0" algn="l"/>
              </a:tabLst>
            </a:pPr>
            <a:r>
              <a:rPr sz="1700" b="0">
                <a:solidFill>
                  <a:srgbClr val="000000"/>
                </a:solidFill>
                <a:latin typeface="Arial"/>
              </a:rPr>
              <a:t>Назначение: восстановление открытого текста из шифротекста.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Вход: C — шифротекст; K — обратимая матрица k×k.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Выход: S — открытое сообщение.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Ограничение: K обратима по модулю m, где m — размер алфавита.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Алгоритм: пронумеровать алфавит; разбить C на блоки по k; для каждого блока P вычислить R = (K⁻¹ × P) mod m; перевести R в символы.</a:t>
            </a:r>
          </a:p>
        </p:txBody>
      </p:sp>
      <p:sp>
        <p:nvSpPr>
          <p:cNvPr id="113" name="AccentLine"/>
          <p:cNvSpPr/>
          <p:nvPr/>
        </p:nvSpPr>
        <p:spPr>
          <a:xfrm>
            <a:off x="841248" y="1572768"/>
            <a:ext cx="10515600" cy="22860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i="0">
                <a:solidFill>
                  <a:srgbClr val="000000"/>
                </a:solidFill>
                <a:latin typeface="Arial"/>
              </a:rPr>
              <a:t>Блок-схема алгоритма расшифрования Hill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841248" y="1069848"/>
            <a:ext cx="10515600" cy="18288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5074920" y="1188720"/>
            <a:ext cx="20116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Arial"/>
              </a:rPr>
              <a:t>Начало</a:t>
            </a:r>
          </a:p>
        </p:txBody>
      </p:sp>
      <p:sp>
        <p:nvSpPr>
          <p:cNvPr id="117" name="Parallelogram 116"/>
          <p:cNvSpPr/>
          <p:nvPr/>
        </p:nvSpPr>
        <p:spPr>
          <a:xfrm>
            <a:off x="4800600" y="1737360"/>
            <a:ext cx="2560320" cy="594360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Ввод C, K (k×k)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17720" y="2468880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Пронумеровать алфавит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617720" y="3154680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Разбить C на блоки по k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754880" y="3858768"/>
            <a:ext cx="26517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p = 0; S = ""</a:t>
            </a:r>
          </a:p>
        </p:txBody>
      </p:sp>
      <p:sp>
        <p:nvSpPr>
          <p:cNvPr id="121" name="Diamond 120"/>
          <p:cNvSpPr/>
          <p:nvPr/>
        </p:nvSpPr>
        <p:spPr>
          <a:xfrm>
            <a:off x="4572000" y="4599432"/>
            <a:ext cx="3017520" cy="6400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100">
                <a:solidFill>
                  <a:srgbClr val="000000"/>
                </a:solidFill>
                <a:latin typeface="Arial"/>
              </a:rPr>
              <a:t>p &lt; длина(C) ?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51560" y="457200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P = блок C[p:p+k]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325880" y="5504688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R = (K⁻¹ × P) mod m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554480" y="635508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S += 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229600" y="4599432"/>
            <a:ext cx="2468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p += k</a:t>
            </a:r>
          </a:p>
        </p:txBody>
      </p:sp>
      <p:sp>
        <p:nvSpPr>
          <p:cNvPr id="126" name="Parallelogram 125"/>
          <p:cNvSpPr/>
          <p:nvPr/>
        </p:nvSpPr>
        <p:spPr>
          <a:xfrm>
            <a:off x="8229600" y="5504688"/>
            <a:ext cx="2468880" cy="65836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Вывести S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5852160" y="1600200"/>
            <a:ext cx="228600" cy="1371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6080760" y="2331720"/>
            <a:ext cx="0" cy="1371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6080760" y="3017520"/>
            <a:ext cx="0" cy="1371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6080760" y="3721608"/>
            <a:ext cx="0" cy="1371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6080760" y="4443984"/>
            <a:ext cx="0" cy="155448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3794760" y="4919472"/>
            <a:ext cx="777240" cy="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4023360" y="466344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000000"/>
                </a:solidFill>
                <a:latin typeface="Arial"/>
              </a:rPr>
              <a:t>Да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2423160" y="5257800"/>
            <a:ext cx="0" cy="246888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423160" y="6163056"/>
            <a:ext cx="0" cy="192024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3291840" y="6510528"/>
            <a:ext cx="868680" cy="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4160520" y="4919472"/>
            <a:ext cx="411480" cy="1591056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589520" y="4919472"/>
            <a:ext cx="640080" cy="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7726679" y="466344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000000"/>
                </a:solidFill>
                <a:latin typeface="Arial"/>
              </a:rPr>
              <a:t>Нет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9464040" y="5285232"/>
            <a:ext cx="0" cy="219456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i="0">
                <a:solidFill>
                  <a:srgbClr val="000000"/>
                </a:solidFill>
                <a:latin typeface="Arial"/>
              </a:rPr>
              <a:t>ADFGVX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838080" y="1618488"/>
            <a:ext cx="10514880" cy="4966272"/>
          </a:xfrm>
          <a:prstGeom prst="rect">
            <a:avLst/>
          </a:prstGeom>
          <a:noFill/>
          <a:ln w="0">
            <a:noFill/>
          </a:ln>
        </p:spPr>
        <p:txBody>
          <a:bodyPr wrap="square" lIns="18288" tIns="18288" rIns="18288" bIns="18288" anchor="t">
            <a:normAutofit fontScale="94722"/>
          </a:bodyPr>
          <a:lstStyle/>
          <a:p>
            <a:pPr indent="0" algn="l" defTabSz="914400">
              <a:lnSpc>
                <a:spcPct val="100000"/>
              </a:lnSpc>
              <a:spcBef>
                <a:spcPts val="1001"/>
              </a:spcBef>
              <a:spcAft>
                <a:spcPts val="800"/>
              </a:spcAft>
              <a:buNone/>
              <a:tabLst>
                <a:tab pos="0" algn="l"/>
              </a:tabLst>
            </a:pPr>
            <a:r>
              <a:rPr sz="1900" b="0" dirty="0">
                <a:solidFill>
                  <a:srgbClr val="000000"/>
                </a:solidFill>
                <a:latin typeface="Arial"/>
              </a:rPr>
              <a:t>Классический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фракционно-перестановочный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шифр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.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900" b="0" dirty="0" err="1">
                <a:solidFill>
                  <a:srgbClr val="000000"/>
                </a:solidFill>
                <a:latin typeface="Arial"/>
              </a:rPr>
              <a:t>Ключи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—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пароль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подстановки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K1 и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пароль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перестановки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K2.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900" b="0" dirty="0">
                <a:solidFill>
                  <a:srgbClr val="000000"/>
                </a:solidFill>
                <a:latin typeface="Arial"/>
              </a:rPr>
              <a:t>K1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формирует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таблицу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ADFGVX.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Каждый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символ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открытого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текста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заменяется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парой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из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A, D, F, G, V, X.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900" b="0" dirty="0" err="1">
                <a:solidFill>
                  <a:srgbClr val="000000"/>
                </a:solidFill>
                <a:latin typeface="Arial"/>
              </a:rPr>
              <a:t>Полученная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последовательность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записывается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в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таблицу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по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длине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K2,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после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чего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выполняется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перестановка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столбцов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900" b="0" dirty="0" err="1">
                <a:solidFill>
                  <a:srgbClr val="000000"/>
                </a:solidFill>
                <a:latin typeface="Arial"/>
              </a:rPr>
              <a:t>Сложность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перебора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: O(n! × m!),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где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n —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размер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алфавита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, m — </a:t>
            </a:r>
            <a:r>
              <a:rPr sz="1900" b="0" dirty="0" err="1">
                <a:solidFill>
                  <a:srgbClr val="000000"/>
                </a:solidFill>
                <a:latin typeface="Arial"/>
              </a:rPr>
              <a:t>длина</a:t>
            </a:r>
            <a:r>
              <a:rPr sz="1900" b="0" dirty="0">
                <a:solidFill>
                  <a:srgbClr val="000000"/>
                </a:solidFill>
                <a:latin typeface="Arial"/>
              </a:rPr>
              <a:t> K2.</a:t>
            </a:r>
          </a:p>
        </p:txBody>
      </p:sp>
      <p:sp>
        <p:nvSpPr>
          <p:cNvPr id="117" name="AccentLine"/>
          <p:cNvSpPr/>
          <p:nvPr/>
        </p:nvSpPr>
        <p:spPr>
          <a:xfrm>
            <a:off x="841248" y="1572768"/>
            <a:ext cx="10515600" cy="22860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/>
          </p:nvPr>
        </p:nvSpPr>
        <p:spPr>
          <a:xfrm>
            <a:off x="215280" y="461520"/>
            <a:ext cx="4691520" cy="331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ru-RU" sz="2200" b="1" strike="noStrike" spc="-1" dirty="0">
                <a:solidFill>
                  <a:srgbClr val="000000"/>
                </a:solidFill>
                <a:latin typeface="Arial"/>
              </a:rPr>
              <a:t>Открытый текст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2200" b="1" strike="noStrike" spc="-1" dirty="0" err="1">
                <a:solidFill>
                  <a:srgbClr val="000000"/>
                </a:solidFill>
                <a:latin typeface="Arial"/>
              </a:rPr>
              <a:t>kirillmaltsev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200" b="1" strike="noStrike" spc="-1" dirty="0">
                <a:solidFill>
                  <a:srgbClr val="000000"/>
                </a:solidFill>
                <a:latin typeface="Arial"/>
              </a:rPr>
              <a:t>Ключ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: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200" b="1" strike="noStrike" spc="-1" dirty="0">
                <a:solidFill>
                  <a:srgbClr val="000000"/>
                </a:solidFill>
                <a:latin typeface="Arial"/>
              </a:rPr>
              <a:t>подстановки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: key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200" b="1" strike="noStrike" spc="-1" dirty="0">
                <a:solidFill>
                  <a:srgbClr val="000000"/>
                </a:solidFill>
                <a:latin typeface="Arial"/>
              </a:rPr>
              <a:t>перестановки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: BAR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001"/>
              </a:spcBef>
              <a:tabLst>
                <a:tab pos="0" algn="l"/>
              </a:tabLst>
            </a:pPr>
            <a:r>
              <a:rPr lang="ru-RU" sz="2200" b="1" strike="noStrike" spc="-1" dirty="0">
                <a:solidFill>
                  <a:srgbClr val="000000"/>
                </a:solidFill>
                <a:latin typeface="Arial"/>
              </a:rPr>
              <a:t>Шифровка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: AGVFDFFAVAVDAFGGDGDAFAAAGD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00176-295F-2EFE-2752-EFB96D772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800" y="0"/>
            <a:ext cx="7337194" cy="4401273"/>
          </a:xfrm>
          <a:prstGeom prst="rect">
            <a:avLst/>
          </a:prstGeom>
        </p:spPr>
      </p:pic>
      <p:pic>
        <p:nvPicPr>
          <p:cNvPr id="121" name="Picture 120" descr="ad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80" y="4043520"/>
            <a:ext cx="4259880" cy="2456280"/>
          </a:xfrm>
          <a:prstGeom prst="rect">
            <a:avLst/>
          </a:prstGeom>
        </p:spPr>
      </p:pic>
      <p:pic>
        <p:nvPicPr>
          <p:cNvPr id="122" name="Picture 121" descr="adf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7600" y="4576680"/>
            <a:ext cx="6219000" cy="13899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i="0">
                <a:solidFill>
                  <a:srgbClr val="000000"/>
                </a:solidFill>
                <a:latin typeface="Arial"/>
              </a:rPr>
              <a:t>Внешняя спецификация алгоритма расшифрования ADFGVX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5031720"/>
          </a:xfrm>
          <a:prstGeom prst="rect">
            <a:avLst/>
          </a:prstGeom>
          <a:noFill/>
          <a:ln w="0">
            <a:noFill/>
          </a:ln>
        </p:spPr>
        <p:txBody>
          <a:bodyPr wrap="square" lIns="18288" tIns="18288" rIns="18288" bIns="18288" anchor="t">
            <a:normAutofit fontScale="96111"/>
          </a:bodyPr>
          <a:lstStyle/>
          <a:p>
            <a:pPr indent="0" algn="l" defTabSz="914400">
              <a:lnSpc>
                <a:spcPct val="100000"/>
              </a:lnSpc>
              <a:spcBef>
                <a:spcPts val="1001"/>
              </a:spcBef>
              <a:spcAft>
                <a:spcPts val="900"/>
              </a:spcAft>
              <a:buNone/>
              <a:tabLst>
                <a:tab pos="0" algn="l"/>
              </a:tabLst>
            </a:pPr>
            <a:r>
              <a:rPr sz="1700" b="0">
                <a:solidFill>
                  <a:srgbClr val="000000"/>
                </a:solidFill>
                <a:latin typeface="Arial"/>
              </a:rPr>
              <a:t>Назначение: восстановление открытого текста из шифротекста.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Вход: C — шифротекст; K1 — пароль подстановки; K2 — пароль перестановки; A — алфавит.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Выход: S — открытое сообщение.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Ограничение: C состоит из A, D, F, G, V, X.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Алгоритм: построить таблицу подстановки по K1; восстановить таблицу перестановки по K2; записать C по столбцам в порядке K2; вернуть исходный порядок столбцов; читать построчно и декодировать пары через таблицу подстановки.</a:t>
            </a:r>
          </a:p>
        </p:txBody>
      </p:sp>
      <p:sp>
        <p:nvSpPr>
          <p:cNvPr id="123" name="AccentLine"/>
          <p:cNvSpPr/>
          <p:nvPr/>
        </p:nvSpPr>
        <p:spPr>
          <a:xfrm>
            <a:off x="841248" y="1572768"/>
            <a:ext cx="10515600" cy="22860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i="0">
                <a:solidFill>
                  <a:srgbClr val="000000"/>
                </a:solidFill>
                <a:latin typeface="Arial"/>
              </a:rPr>
              <a:t>Блок-схема алгоритма расшифрования ADFGVX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841248" y="1069848"/>
            <a:ext cx="10515600" cy="18288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ounded Rectangle 125"/>
          <p:cNvSpPr/>
          <p:nvPr/>
        </p:nvSpPr>
        <p:spPr>
          <a:xfrm>
            <a:off x="5029200" y="1143000"/>
            <a:ext cx="21031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Arial"/>
              </a:rPr>
              <a:t>Начало</a:t>
            </a:r>
          </a:p>
        </p:txBody>
      </p:sp>
      <p:sp>
        <p:nvSpPr>
          <p:cNvPr id="127" name="Parallelogram 126"/>
          <p:cNvSpPr/>
          <p:nvPr/>
        </p:nvSpPr>
        <p:spPr>
          <a:xfrm>
            <a:off x="4572000" y="1691640"/>
            <a:ext cx="3017520" cy="640080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Ввод C, K1, K2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572000" y="2468880"/>
            <a:ext cx="3017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Построить таблицу подстановки T по K1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72000" y="3172968"/>
            <a:ext cx="3017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Построить таблицу перестановки E по K2</a:t>
            </a:r>
          </a:p>
        </p:txBody>
      </p:sp>
      <p:sp>
        <p:nvSpPr>
          <p:cNvPr id="130" name="Diamond 129"/>
          <p:cNvSpPr/>
          <p:nvPr/>
        </p:nvSpPr>
        <p:spPr>
          <a:xfrm>
            <a:off x="4709160" y="3877056"/>
            <a:ext cx="2743200" cy="6400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Проверить неполное заполнение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229600" y="384048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900">
                <a:solidFill>
                  <a:srgbClr val="000000"/>
                </a:solidFill>
                <a:latin typeface="Arial"/>
              </a:rPr>
              <a:t>Определить неполные столбцы после сортировки K2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828800" y="4663440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Записать C по столбцам
в порядке K2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011680" y="5532120"/>
            <a:ext cx="2560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900">
                <a:solidFill>
                  <a:srgbClr val="000000"/>
                </a:solidFill>
                <a:latin typeface="Arial"/>
              </a:rPr>
              <a:t>Вернуть исходный порядок столбцов 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800600" y="4663440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Прочитать E построчно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800600" y="550468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Декодировать пары через T</a:t>
            </a:r>
          </a:p>
        </p:txBody>
      </p:sp>
      <p:sp>
        <p:nvSpPr>
          <p:cNvPr id="136" name="Parallelogram 135"/>
          <p:cNvSpPr/>
          <p:nvPr/>
        </p:nvSpPr>
        <p:spPr>
          <a:xfrm>
            <a:off x="8366760" y="5486400"/>
            <a:ext cx="2057400" cy="47548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Вывести 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8366760" y="6172200"/>
            <a:ext cx="20574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Конец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589520" y="393192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000000"/>
                </a:solidFill>
                <a:latin typeface="Arial"/>
              </a:rPr>
              <a:t>Да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931920" y="393192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000000"/>
                </a:solidFill>
                <a:latin typeface="Arial"/>
              </a:rPr>
              <a:t>Нет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6080760" y="1554480"/>
            <a:ext cx="0" cy="1371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6080760" y="2331720"/>
            <a:ext cx="0" cy="1371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6080760" y="3035808"/>
            <a:ext cx="0" cy="1371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6080760" y="3739896"/>
            <a:ext cx="0" cy="1371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7452360" y="4187952"/>
            <a:ext cx="777240" cy="9144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H="1">
            <a:off x="3291840" y="4197096"/>
            <a:ext cx="1417320" cy="466344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9509760" y="4526280"/>
            <a:ext cx="0" cy="27432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H="1">
            <a:off x="4754880" y="4553712"/>
            <a:ext cx="4754880" cy="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54880" y="4553712"/>
            <a:ext cx="0" cy="109728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3291840" y="5321808"/>
            <a:ext cx="0" cy="210312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572000" y="5833872"/>
            <a:ext cx="228600" cy="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6172200" y="5321808"/>
            <a:ext cx="0" cy="18288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7543800" y="5724144"/>
            <a:ext cx="822960" cy="109728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9400032" y="5961888"/>
            <a:ext cx="0" cy="210312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i="0">
                <a:solidFill>
                  <a:srgbClr val="000000"/>
                </a:solidFill>
                <a:latin typeface="Arial"/>
              </a:rPr>
              <a:t>Шифр, заданный вариантом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r>
              <a:rPr lang="ru-RU" sz="2200" dirty="0">
                <a:solidFill>
                  <a:srgbClr val="000000"/>
                </a:solidFill>
                <a:latin typeface="Arial"/>
              </a:rPr>
              <a:t>Зашифровать строку байт P способом, основанным на операции матричной перестановки (прототипом служит шифр двойной перестановки). Алфавитом этого сообщения является множество B размера |B|. Ключом за-шифрования является две перестановки целых чисел. Первая (K1) задает пе-рестановку n строк шифрующей матрицы, а вторая (K2) перестановку m столбцов этой матрицы. Шифруемая строка записывается в строки матрицы в последовательности слева направо и сверху вниз так, чтобы все строки 2 </a:t>
            </a:r>
          </a:p>
          <a:p>
            <a:endParaRPr lang="en-US" sz="2200" dirty="0"/>
          </a:p>
          <a:p>
            <a:r>
              <a:rPr lang="ru-RU" sz="2200" dirty="0">
                <a:solidFill>
                  <a:srgbClr val="000000"/>
                </a:solidFill>
                <a:latin typeface="Arial"/>
              </a:rPr>
              <a:t>имели равную длину, за исключение быть может последней. Зашифрование выполняется путем перестановки сначала строк, а потом и столбцов в соот-ветствии с возрастанием элементов перестановки. Шифровка получается пу-тём извлечения и конкатенации байт из первой и последующих строк матри-цы, полученной в результате перестановок.</a:t>
            </a:r>
            <a:endParaRPr sz="2200" b="0" dirty="0">
              <a:solidFill>
                <a:srgbClr val="2D2D2D"/>
              </a:solidFill>
              <a:latin typeface="Arial"/>
            </a:endParaRPr>
          </a:p>
        </p:txBody>
      </p:sp>
      <p:sp>
        <p:nvSpPr>
          <p:cNvPr id="127" name="AccentLine"/>
          <p:cNvSpPr/>
          <p:nvPr/>
        </p:nvSpPr>
        <p:spPr>
          <a:xfrm>
            <a:off x="841248" y="1572768"/>
            <a:ext cx="10515600" cy="22860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B55196-CC3E-C660-D375-B881C773D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50" y="356176"/>
            <a:ext cx="4372585" cy="37152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528D64-4A39-C10C-EC55-BC3C2C5AE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307" y="460965"/>
            <a:ext cx="4391638" cy="35056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75576B-A768-83D5-752E-53F24C7AB6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2180" y="3879992"/>
            <a:ext cx="5563376" cy="274358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i="0">
                <a:solidFill>
                  <a:srgbClr val="000000"/>
                </a:solidFill>
                <a:latin typeface="Arial"/>
              </a:rPr>
              <a:t>Блок-схема алгоритма зашифрования, заданного вариантом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841248" y="1069848"/>
            <a:ext cx="10515600" cy="18288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5074920" y="1234440"/>
            <a:ext cx="20116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Arial"/>
              </a:rPr>
              <a:t>Начало</a:t>
            </a:r>
          </a:p>
        </p:txBody>
      </p:sp>
      <p:sp>
        <p:nvSpPr>
          <p:cNvPr id="134" name="Parallelogram 133"/>
          <p:cNvSpPr/>
          <p:nvPr/>
        </p:nvSpPr>
        <p:spPr>
          <a:xfrm>
            <a:off x="4800600" y="1783080"/>
            <a:ext cx="2560320" cy="6217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Ввод P — открытый текст
K — ключ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663440" y="2542032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i = 0
n = длина(P)</a:t>
            </a:r>
          </a:p>
        </p:txBody>
      </p:sp>
      <p:sp>
        <p:nvSpPr>
          <p:cNvPr id="136" name="Diamond 135"/>
          <p:cNvSpPr/>
          <p:nvPr/>
        </p:nvSpPr>
        <p:spPr>
          <a:xfrm>
            <a:off x="4572000" y="3273552"/>
            <a:ext cx="3017520" cy="6400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100">
                <a:solidFill>
                  <a:srgbClr val="000000"/>
                </a:solidFill>
                <a:latin typeface="Arial"/>
              </a:rPr>
              <a:t>i &lt; n ?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463040" y="3310128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C[i] = P[K[i] − 1]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828800" y="4617720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i++</a:t>
            </a:r>
          </a:p>
        </p:txBody>
      </p:sp>
      <p:sp>
        <p:nvSpPr>
          <p:cNvPr id="139" name="Parallelogram 138"/>
          <p:cNvSpPr/>
          <p:nvPr/>
        </p:nvSpPr>
        <p:spPr>
          <a:xfrm>
            <a:off x="8183879" y="3310128"/>
            <a:ext cx="2194560" cy="502920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Вывести C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183879" y="4160520"/>
            <a:ext cx="2194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00">
                <a:solidFill>
                  <a:srgbClr val="000000"/>
                </a:solidFill>
                <a:latin typeface="Arial"/>
              </a:rPr>
              <a:t>Конец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6080760" y="1645920"/>
            <a:ext cx="0" cy="1371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6080760" y="2404872"/>
            <a:ext cx="0" cy="1371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6080760" y="3136392"/>
            <a:ext cx="0" cy="13716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>
            <a:off x="4023360" y="3593592"/>
            <a:ext cx="548640" cy="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3913632" y="33375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000000"/>
                </a:solidFill>
                <a:latin typeface="Arial"/>
              </a:rPr>
              <a:t>Да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2743200" y="3950208"/>
            <a:ext cx="0" cy="667512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657600" y="4837176"/>
            <a:ext cx="502920" cy="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160520" y="3593592"/>
            <a:ext cx="411480" cy="1243584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7589520" y="3593592"/>
            <a:ext cx="594359" cy="0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7726679" y="33375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000000"/>
                </a:solidFill>
                <a:latin typeface="Arial"/>
              </a:rPr>
              <a:t>Нет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9281160" y="3813048"/>
            <a:ext cx="0" cy="347472"/>
          </a:xfrm>
          <a:prstGeom prst="line">
            <a:avLst/>
          </a:prstGeom>
          <a:ln w="13970">
            <a:solidFill>
              <a:srgbClr val="46464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i="0">
                <a:solidFill>
                  <a:srgbClr val="000000"/>
                </a:solidFill>
                <a:latin typeface="Arial"/>
              </a:rPr>
              <a:t>Заключение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784040"/>
          </a:xfrm>
          <a:prstGeom prst="rect">
            <a:avLst/>
          </a:prstGeom>
          <a:noFill/>
          <a:ln w="0"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indent="0" algn="l" defTabSz="914400">
              <a:lnSpc>
                <a:spcPct val="100000"/>
              </a:lnSpc>
              <a:spcBef>
                <a:spcPts val="1001"/>
              </a:spcBef>
              <a:spcAft>
                <a:spcPts val="800"/>
              </a:spcAft>
              <a:buNone/>
              <a:tabLst>
                <a:tab pos="0" algn="l"/>
              </a:tabLst>
            </a:pPr>
            <a:r>
              <a:rPr sz="1400" b="0">
                <a:solidFill>
                  <a:srgbClr val="000000"/>
                </a:solidFill>
                <a:latin typeface="Arial"/>
              </a:rPr>
              <a:t>1) Scytale — перестановочный шифр; ключ — число строк; перебор ключа O(n).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2) Агентурный — моноалфавитная подстановка; ключи — пароль и сдвиг; перебор O(n!).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3) Vigenere — полиалфавитная подстановка; ключ — повторяющееся слово; перебор O(n! / (n − m)!).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4) Hill — полиграфическая подстановка; ключ — обратимая матрица k×k; перебор O(n^(k×k)).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5) ADFGVX — фракционно-перестановочный шифр; ключи — K1 и K2; перебор O(n! × m!).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6) По варианту реализован алгоритм векторной перестановки: вход — открытый текст, алфавит и ключ; выход — шифротекст.</a:t>
            </a:r>
          </a:p>
        </p:txBody>
      </p:sp>
      <p:sp>
        <p:nvSpPr>
          <p:cNvPr id="134" name="AccentLine"/>
          <p:cNvSpPr/>
          <p:nvPr/>
        </p:nvSpPr>
        <p:spPr>
          <a:xfrm>
            <a:off x="841248" y="1572768"/>
            <a:ext cx="10515600" cy="22860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2977</TotalTime>
  <Words>1605</Words>
  <Application>Microsoft Office PowerPoint</Application>
  <PresentationFormat>Widescreen</PresentationFormat>
  <Paragraphs>196</Paragraphs>
  <Slides>31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31</vt:i4>
      </vt:variant>
    </vt:vector>
  </HeadingPairs>
  <TitlesOfParts>
    <vt:vector size="47" baseType="lpstr">
      <vt:lpstr>Arial</vt:lpstr>
      <vt:lpstr>Calibri</vt:lpstr>
      <vt:lpstr>Symbol</vt:lpstr>
      <vt:lpstr>Times New Roman</vt:lpstr>
      <vt:lpstr>Wingdings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PowerPoint Presentation</vt:lpstr>
      <vt:lpstr>PowerPoint Presentation</vt:lpstr>
      <vt:lpstr>Scytale</vt:lpstr>
      <vt:lpstr>PowerPoint Presentation</vt:lpstr>
      <vt:lpstr>PowerPoint Presentation</vt:lpstr>
      <vt:lpstr>PowerPoint Presentation</vt:lpstr>
      <vt:lpstr>Внешняя спецификация алгоритма расшифрования Scytale</vt:lpstr>
      <vt:lpstr>Блок-схема алгоритма расшифрования Scytale</vt:lpstr>
      <vt:lpstr>Агентурный шифр</vt:lpstr>
      <vt:lpstr>PowerPoint Presentation</vt:lpstr>
      <vt:lpstr>PowerPoint Presentation</vt:lpstr>
      <vt:lpstr>Внешняя спецификация алгоритма расшифрования Агентурного шифра</vt:lpstr>
      <vt:lpstr>Блок-схема алгоритма расшифрования Агентурного шифра</vt:lpstr>
      <vt:lpstr>Vigenere</vt:lpstr>
      <vt:lpstr>PowerPoint Presentation</vt:lpstr>
      <vt:lpstr>PowerPoint Presentation</vt:lpstr>
      <vt:lpstr>Внешняя спецификация алгоритма расшифрования Vigenere</vt:lpstr>
      <vt:lpstr>Блок-схема алгоритма расшифрования Vigenere</vt:lpstr>
      <vt:lpstr>Hill</vt:lpstr>
      <vt:lpstr>PowerPoint Presentation</vt:lpstr>
      <vt:lpstr>PowerPoint Presentation</vt:lpstr>
      <vt:lpstr>Внешняя спецификация алгоритма расшифрования Hill</vt:lpstr>
      <vt:lpstr>Блок-схема алгоритма расшифрования Hill</vt:lpstr>
      <vt:lpstr>ADFGVX</vt:lpstr>
      <vt:lpstr>PowerPoint Presentation</vt:lpstr>
      <vt:lpstr>Внешняя спецификация алгоритма расшифрования ADFGVX</vt:lpstr>
      <vt:lpstr>Блок-схема алгоритма расшифрования ADFGVX</vt:lpstr>
      <vt:lpstr>Шифр, заданный вариантом</vt:lpstr>
      <vt:lpstr>PowerPoint Presentation</vt:lpstr>
      <vt:lpstr>Блок-схема алгоритма зашифрования, заданного вариантом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Danila Ivanov</dc:creator>
  <dc:description/>
  <cp:lastModifiedBy>Kirill Maltsev</cp:lastModifiedBy>
  <cp:revision>67</cp:revision>
  <dcterms:created xsi:type="dcterms:W3CDTF">2026-09-19T12:55:56Z</dcterms:created>
  <dcterms:modified xsi:type="dcterms:W3CDTF">2026-09-29T15:31:21Z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32</vt:i4>
  </property>
</Properties>
</file>